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4754880" cy="411480"/>
          </a:xfrm>
          <a:prstGeom prst="roundRect">
            <a:avLst/>
          </a:prstGeom>
          <a:solidFill>
            <a:srgbClr val="1C264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🏆 OPEN AGENT HACKATHON 2026 | GENAI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SynapseReason</a:t>
            </a:r>
          </a:p>
          <a:p>
            <a:pPr>
              <a:spcBef>
                <a:spcPts val="800"/>
              </a:spcBef>
              <a:defRPr sz="2200" b="1">
                <a:solidFill>
                  <a:srgbClr val="06B6D4"/>
                </a:solidFill>
              </a:defRPr>
            </a:pPr>
            <a:r>
              <a:t>Universal 3D Cognitive Lattice Architecture &amp; Autonomous Remediation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Replacing rigid linear agent DAGs with spatial multi-agent consensus, counterfactual multiverse simulation, and dynamic backward refutation.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2423160" cy="14630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NVIDIA NIM &amp; NeMo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70B/30B Reasoning + Safety 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57016" y="3931920"/>
            <a:ext cx="2423160" cy="14630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Zetaris Data Fabric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Zero-Copy Cross-Silo Federated 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3931920"/>
            <a:ext cx="2423160" cy="14630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Meterless.io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Micro-Budget Hardware Token 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42248" y="3931920"/>
            <a:ext cx="2423160" cy="14630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Bright Data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Live OSINT &amp; Web Registry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Solo Builder: Yuvan Shankar (yuvanshankarm007@gmail.com)  •  Live Demo: synapse-reason.onrender.com  •  Track 3: Reasoning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32004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⚡ THE ARCHITECTURAL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Critical Failure of Rigid, Linear Agent Pipelines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1. Catastrophic Backtracking Failure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Traditional agents run in 1-way DAGs: Planner ➔ Tool ➔ Summarizer.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If the initial premise (H1) is false, the agent cannot pivot without restarting.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In financial fraud or SRE outages, blind linear execution precipitates cascading failures or hallucinations.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Requires: True non-linear backtracking and causal refutation capabilities.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3756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2. Cross-Silo Data Blindspots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Enterprise evidence is trapped across isolated, incompatible databases (ERP, Cloud Logs, CRM).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Traditional LLMs rely on stale vector context or clumsy batch ETL migrations.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Moving sensitive corporate data violates governance and security protocols.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Requires: Zero-copy virtual data federation across live production silos.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3756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3. Unregulated Cost &amp; Governance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Complex multi-agent loops suffer from runaway token consumption and unpredictable costs.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Autonomous agents risk dispatching irreversible mutations (SWIFT transfers, DB drops) unchecked.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Enterprise FinOps lacks hardware-metered enforcement per investigation.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Requires: Hard budget capping and mandatory Human-in-the-Loop approval gates.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32004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⚡ CORE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3D Cognitive Lattice: Mapping Thought to Spatial Strata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Z = +2 : Counterfactual Multiverse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 Branch α (Optimal Intervention) vs Branch β (Alternative) vs Branch γ (Status Quo).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 Simulates +1h, +24h, and +7d operational horizons before committing irreversible actions.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 Projects exact blast-radius, cost drag, and SLA preservation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62072"/>
            <a:ext cx="10698480" cy="1051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Z = +1 : Meta-Cognitive Arbiter &amp; Governance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 Evaluator/Critic monitors evidence grounding via NVIDIA NeMo Guardrails (95% score).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 Hardware-level spending limits enforced in real-time via Meterless.io ($0.50 budget cap).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 Issues cryptographic sign-off receipts before any execution proceeds.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78224"/>
            <a:ext cx="10698480" cy="1051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Z = 0 : Tactical Multi-Agent Swarm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 Specialized domain agents (SRE, Security, FinOps, Compliance) execute in a bi-directional mesh.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 Simultaneous cross-examination: Agents challenge assumptions via signed A2A protocol cards.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 Dynamic Backtracking: When H1 is refuted, routes backward dispute tokens to prune branches.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94376"/>
            <a:ext cx="10698480" cy="1051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Z = -1 : Ground Truth Virtual Data Fabric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 Zero-copy virtual data federation powered by Zetaris Networked Data Fabric.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 Executes federated SQL queries joining live SAP ERP, AWS CloudTrail, and Coupa registries.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 No raw data movement, ETL latency, or external cloud security leaks.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32004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⚡ STATE GRAPH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Non-Linear Dialectical Reasoning Loop (8 Steps)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Step 1: Alert Ingestion &amp; Reflexion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Recalls historical incident fingerprints &amp; causal refutations from Episodic Memory.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61488"/>
            <a:ext cx="521208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Step 2: Competing Hypotheses Formulation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NVIDIA NIM Nemotron-30B formulates H1 (Null Premise) vs H2 (Grounded Path).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77056"/>
            <a:ext cx="521208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Step 3: Empirical Hypothesis Testing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Dispatches zero-copy federated queries across enterprise silos via Zetaris MCP.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92624"/>
            <a:ext cx="521208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Step 4: Causal Refutation &amp; Backtracking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Critic refutes H1 based on empirical data; backtracks and dynamically pivots to H2.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Step 5: Speculative Concurrency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ThreadPoolExecutor runs Zetaris deep SQL and Bright Data OSINT simultaneously (45% faster).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61488"/>
            <a:ext cx="521208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Step 6: Counterfactual Multiverse Sim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Simulates blast-radius and outcomes across Branch α vs β vs γ over 7-day horizons.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77056"/>
            <a:ext cx="521208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Step 7: NVIDIA NeMo Safety Vetting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NeMo Guardrails validates evidence grounding (95% score) and vets remediation safety.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992624"/>
            <a:ext cx="521208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Step 8: AG-UI Human Approval Gate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Enforces dual-officer signoff for irreversible actions; dispatches reversible actions live.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32004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⚡ ECOSYSTEM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Deep Sponsor Technology Integration &amp; Proof of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NVIDIA NIM &amp; NeMo Guardrails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Model: nvidia/nemotron-3.5-lightning-30b-a3b + llama-3.1-70b-instruct.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Dynamic Routing: Pre-flight model discovery queries /models endpoint before task execution.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Dialectical Brain: Formulates competing hypotheses and dynamic JSON action plans in real time.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NeMo Guardrail Critic: Computes 95% evidence-grounding score against live database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103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Zetaris Networked Data Fabric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Protocol: Exposed via Model Context Protocol (mcp://zetaris/federated_sql).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Zero-Copy Federation: Joins ERP transactions, CloudTrail audit logs, and Coupa registries.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Multi-Silo Correlation: Uncovered Seychellois Tor IP and altered bank routing in single query.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Zero Data Movement: Leaves sensitive enterprise records inside source production silos.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257800" cy="2103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Meterless.io Hardware Governance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Hardware-Metered SDK: Tracks prompt tokens, completion tokens, duration, and exact USD cost.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Micro-Budget Ceiling: Enforces strict $0.50 cap; halts runaway loops with zero chat hops.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Verified Telemetry: 8-step deep investigation completed for only $0.0089 USD (&lt; 1 cent).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Audit Receipts: Produces transparent FinOps receipts with step-by-step cost breakdown.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86200"/>
            <a:ext cx="5257800" cy="2103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Bright Data Web Intelligence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OSINT Registry Scraper: Exposed via Model Context Protocol (mcp://brightdata/scrape_vendor).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Live SERP &amp; Registry Lookups: Cross-references offshore entities across international jurisdictions.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Shell Detection: Correlated vendor Acrobatics Logistics LLC to an 89% shell company probability.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Speculative Concurrency: Scrapes web data in parallel with Zetaris SQL to reduce latency.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32004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⚡ INDUSTRY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Universal Protocol Nervous System: MCP + A2A + AG-UI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MCP (Model Context Protocol)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Industry standard for zero-copy tool &amp; data interface abstraction.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Standardizes federated SQL queries: mcp://zetaris/federated_sql.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Standardizes OSINT corporate scraping: mcp://brightdata/scrape_vendor.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Built-in LRU Caching: Delivers 79% latency reduction on repeated telemetry queries.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Fault-tolerant: Handles malformed SQL params and missing tables gracefully.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3756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A2A (Agent2Agent Protocol)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Standardized v1.0 Signed Agent Cards with cryptographically verifiable capabilities.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SHA-256 Message Proofs: Every inter-agent message carries an authentic signature token.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Dynamic Dispute Routing: When the Evaluator refutes H1, it routes an authenticated dispute backward.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Decoupled Agent Mesh: Domain specialists communicate peer-to-peer without central bottlenecks.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3756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AG-UI (Agent-User Interaction)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Real-time event streaming protocol for non-linear cognitive step telemetry.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Mandatory Human-in-the-Loop Gate: Reversible actions execute live; irreversible actions pause for sign-off.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Dual-Officer Authorization: Critical SWIFT wire clawbacks and KMS key rotations require sign-off.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Interactive 3D WebGL Canvas: Renders the 4-stratum lattice and cyclic swarm mesh live.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32004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⚡ LIVE PRODUCTION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Flagship Case Study: Halting $443,000 USD Fraud Live</a:t>
            </a:r>
            <a:r>
              <a:rPr>
                <a:solidFill>
                  <a:srgbClr val="6366F1"/>
                </a:solidFill>
              </a:rPr>
              <a:t> (INC-4491)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The Investigation: Compromised Approver &amp; Shell Vendor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Alert: High-volume unauthorized disbursement anomaly on vendor VND-8821.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Null Hypothesis (H1): Routine database replication lag causing false transaction alerts.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Zetaris Federated Audit: Correlated SAP ERP write queue with CloudTrail audit logs.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Discovery 1: 0ms CDC delay refutes H1 (writes are live and real).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Discovery 2: Approver USR-9912 MFA was bypassed from a Seychellois Tor exit node.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Discovery 3: Bank routing altered from 011000015 to 021000021 ($245k + $198k pending).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Bright Data Audit: Acrobatics Logistics LLC flagged with 89% shell company probability.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5780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Autonomous Remediation &amp; Business Impact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P0 Action (Reversible): Immediately revoked compromised STS IAM session on USR-9912.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P0 Action (Reversible): Isolated Kubernetes auth-gateway pod to halt lateral network spread.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P1 Action (HITL Gate): Paused ACH disbursement and issued emergency SWIFT clawback.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AG-UI Human Gate: Required dual-signoff from Chief Risk Officer before SWIFT recall.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Capital Protected: Exactly $443,000.00 USD halted before bank settlement.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Meterless Cost: Full 8-step non-linear investigation cost only $0.0089 USD (&lt; 1 cent).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Tokens Metered: 3,740 tokens across NVIDIA NIM and Zetaris data fabric.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32004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⚡ DYNAMIC GENERALIZATION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Universal Multi-Domain Versatility: Zero Hardcoded Presets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Enterprise Risk (INC-4491)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Halts $443,000 USD fraudulent disbursement.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Correlates Tor exit IP with altered bank routing.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Issues emergency SWIFT clawback via HITL gate.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2103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Autonomous SRE (SRE-502)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Diagnoses canary 98.4% JVM heap memory exhaustion.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Resolves 15,200 Kafka consumer partition lag.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Rolls back canary to v2.4.1 and trips circuit breaker.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74720" cy="2103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Cybersecurity (SEC-701)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Detects compromised STS token lateral movement.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Quarantines compromised Kubernetes pods from Tor nodes.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Enforces zero-trust egress rules &amp; rotates KMS keys.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3474720" cy="2103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Global Logistics (LOG-304)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Resolves Rotterdam port semiconductor bottleneck.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Diverts tier-1 cargo to Frankfurt air logistics hub.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Releases 48h buffer inventory, saving $1.2M in downtime.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886200"/>
            <a:ext cx="3474720" cy="2103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Open Ad-Hoc Inquiries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Live neural synthesis for arbitrary user inquiries.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Tested on education, investing, and system profiling.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Formulates dialectical H1, H2, Critic, and 4 Action Cards.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886200"/>
            <a:ext cx="3474720" cy="2103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12/12 Edge-Case Suite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100% test pass rate across fault injection suite.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Recovers from missing DB files and malformed JSON.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Enforces budget throttles and verifies A2A signatures.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32004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⚡ DEMONSTRATED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Empirical Accomplishments &amp; Benchmark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1645920"/>
          </a:xfrm>
          <a:prstGeom prst="roundRect">
            <a:avLst/>
          </a:prstGeom>
          <a:solidFill>
            <a:srgbClr val="131B2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$443,000 USD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Capital Protected Live</a:t>
            </a:r>
          </a:p>
          <a:p>
            <a:pPr algn="ctr"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Halted fraudulent transfers before settlement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542032" cy="1645920"/>
          </a:xfrm>
          <a:prstGeom prst="roundRect">
            <a:avLst/>
          </a:prstGeom>
          <a:solidFill>
            <a:srgbClr val="131B2E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400" b="1">
                <a:solidFill>
                  <a:srgbClr val="06B6D4"/>
                </a:solidFill>
              </a:defRPr>
            </a:pPr>
            <a:r>
              <a:t>&lt; $0.01 USD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Cost per Investigation</a:t>
            </a:r>
          </a:p>
          <a:p>
            <a:pPr algn="ctr"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8-step deep reasoning cost only $0.0089 USD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645920"/>
            <a:ext cx="2542032" cy="1645920"/>
          </a:xfrm>
          <a:prstGeom prst="roundRect">
            <a:avLst/>
          </a:prstGeom>
          <a:solidFill>
            <a:srgbClr val="131B2E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400" b="1">
                <a:solidFill>
                  <a:srgbClr val="6366F1"/>
                </a:solidFill>
              </a:defRPr>
            </a:pPr>
            <a:r>
              <a:t>100% Pass Rate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Edge-Case Resilience</a:t>
            </a:r>
          </a:p>
          <a:p>
            <a:pPr algn="ctr"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12 of 12 critical operational stress tests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645920"/>
            <a:ext cx="2542032" cy="1645920"/>
          </a:xfrm>
          <a:prstGeom prst="roundRect">
            <a:avLst/>
          </a:prstGeom>
          <a:solidFill>
            <a:srgbClr val="131B2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79% Faster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Latency Optimization</a:t>
            </a:r>
          </a:p>
          <a:p>
            <a:pPr algn="ctr"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Speculative concurrency + MCP query caching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10698480" cy="2468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Architectural Comparison: Traditional Agent vs SynapseReason 3D Lattice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Control Flow: Rigid 1-Way Sequential DAG (Traditional) vs Dynamic 3D Spatial Backtracking &amp; Pruning (SynapseReason)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Data Access: Outdated Vector Retrieval / ETL Lakes (Traditional) vs Real-Time Zero-Copy Federated SQL via Zetaris (SynapseReason)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Governance: Unregulated Runaway Loop Risk (Traditional) vs Meterless Hardware Token Limits ($0.50 cap) + AG-UI HITL Gates (SynapseReason)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Safety Verification: Black-Box Confidence Guess (Traditional) vs NVIDIA NeMo Guardrails 95% Evidence Grounding (SynapseReason)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Failure Handling: Complete Pipeline Crash / Hallucination (Traditional) vs Causal Hypothesis Refutation &amp; Multiverse Simulation (SynapseReason)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32004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⚡ NEXT STEPS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Future Roadmap: Scaling Enterprise Cognitive Autonomy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1. Autonomous K8s Controller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Package the 3D lattice engine into an autonomous Kubernetes Operator / Custom Resource Definition (CRD).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Continuous cluster introspection and self-healing for microservices, thread deadlocks, and ingress floods.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Automated blast-radius counterfactual simulation before executing pod drain or rollback maneuvers.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3756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2. On-Prem Sovereign NIM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Enable enterprise air-gapped deployments using on-prem NVIDIA DGX systems and local NeMo microservices.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Zero internet egress required for highly sensitive defense, healthcare, and central banking environments.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Hardware-level token governance integrated directly with PCIe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3756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3. Adaptive Lattice Topologies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Allow agents to auto-scale new spatial strata dynamically based on investigation complexity.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Integrate causal DAG discovery models to auto-generate hypothesis trees from streaming telemetry.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Decentralized peer-to-peer A2A consensus across heterogeneous multi-cloud enterprise networks.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